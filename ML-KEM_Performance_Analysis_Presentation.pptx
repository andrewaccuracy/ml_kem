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772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D47"/>
                </a:solidFill>
                <a:latin typeface="PingFang SC"/>
              </a:rPr>
              <a:t>ML-KEM-512/768/1024
性能比较实验与安全代价分析</a:t>
            </a:r>
          </a:p>
          <a:p>
            <a:r>
              <a:rPr sz="1500" b="0">
                <a:solidFill>
                  <a:srgbClr val="626D7A"/>
                </a:solidFill>
                <a:latin typeface="PingFang SC"/>
              </a:rPr>
              <a:t>基于 liboqs-python 的实验评测与部署取舍讨论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3840480"/>
            <a:ext cx="4754880" cy="1097280"/>
          </a:xfrm>
          <a:prstGeom prst="roundRect">
            <a:avLst/>
          </a:prstGeom>
          <a:solidFill>
            <a:srgbClr val="ECF2FA"/>
          </a:solidFill>
          <a:ln>
            <a:solidFill>
              <a:srgbClr val="EC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300" b="1">
                <a:solidFill>
                  <a:srgbClr val="1B2D47"/>
                </a:solidFill>
                <a:latin typeface="PingFang SC"/>
              </a:rPr>
              <a:t>核心问题</a:t>
            </a:r>
          </a:p>
          <a:p>
            <a:r>
              <a:rPr sz="1100" b="0">
                <a:solidFill>
                  <a:srgbClr val="283442"/>
                </a:solidFill>
                <a:latin typeface="PingFang SC"/>
              </a:rPr>
              <a:t>在相同实验环境下，安全等级上升到底会带来多少时间、空间与系统吞吐代价？</a:t>
            </a:r>
          </a:p>
        </p:txBody>
      </p:sp>
      <p:pic>
        <p:nvPicPr>
          <p:cNvPr id="5" name="Picture 4" descr="visual_pareto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074920" cy="30384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126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26D7A"/>
                </a:solidFill>
                <a:latin typeface="PingFang SC"/>
              </a:rPr>
              <a:t>项目输出：基准测试、归一化代价、整体握手成本、吞吐能力、三维权衡图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B2D47"/>
                </a:solidFill>
                <a:latin typeface="PingFang SC"/>
              </a:rPr>
              <a:t>汇报路线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26D7A"/>
                </a:solidFill>
                <a:latin typeface="PingFang SC"/>
              </a:rPr>
              <a:t>从“做了什么”到“该怎么选型”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83442"/>
                </a:solidFill>
                <a:latin typeface="PingFang SC"/>
              </a:rPr>
              <a:t>研究背景：为什么比较 ML-KEM-512 / 768 / 1024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83442"/>
                </a:solidFill>
                <a:latin typeface="PingFang SC"/>
              </a:rPr>
              <a:t>实验设计：测试环境、测量方法、指标定义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83442"/>
                </a:solidFill>
                <a:latin typeface="PingFang SC"/>
              </a:rPr>
              <a:t>结果一：单步运行时间与原始数据快照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83442"/>
                </a:solidFill>
                <a:latin typeface="PingFang SC"/>
              </a:rPr>
              <a:t>结果二：归一化代价，安全升级到底贵了多少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83442"/>
                </a:solidFill>
                <a:latin typeface="PingFang SC"/>
              </a:rPr>
              <a:t>结果三：完整密钥建立成本与吞吐能力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83442"/>
                </a:solidFill>
                <a:latin typeface="PingFang SC"/>
              </a:rPr>
              <a:t>结果四：速度-尺寸-安全性的综合权衡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83442"/>
                </a:solidFill>
                <a:latin typeface="PingFang SC"/>
              </a:rPr>
              <a:t>结论：不同部署目标下的参数集建议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920240"/>
            <a:ext cx="3474720" cy="1371600"/>
          </a:xfrm>
          <a:prstGeom prst="roundRect">
            <a:avLst/>
          </a:prstGeom>
          <a:solidFill>
            <a:srgbClr val="E9F5F1"/>
          </a:solidFill>
          <a:ln>
            <a:solidFill>
              <a:srgbClr val="E9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300" b="1">
                <a:solidFill>
                  <a:srgbClr val="1B2D47"/>
                </a:solidFill>
                <a:latin typeface="PingFang SC"/>
              </a:rPr>
              <a:t>一句话判断</a:t>
            </a:r>
          </a:p>
          <a:p>
            <a:r>
              <a:rPr sz="1100" b="0">
                <a:solidFill>
                  <a:srgbClr val="283442"/>
                </a:solidFill>
                <a:latin typeface="PingFang SC"/>
              </a:rPr>
              <a:t>ML-KEM-512 最快，ML-KEM-1024 最强但代价最高，ML-KEM-768 是最均衡的折中点。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3840480"/>
            <a:ext cx="1554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27000"/>
          <a:lstStyle/>
          <a:p>
            <a:pPr algn="ctr"/>
            <a:r>
              <a:rPr sz="1100" b="1">
                <a:solidFill>
                  <a:srgbClr val="626D7A"/>
                </a:solidFill>
                <a:latin typeface="PingFang SC"/>
              </a:rPr>
              <a:t>测量轮数</a:t>
            </a:r>
          </a:p>
          <a:p>
            <a:r>
              <a:rPr sz="2000" b="1">
                <a:solidFill>
                  <a:srgbClr val="1B2D47"/>
                </a:solidFill>
                <a:latin typeface="Aptos"/>
              </a:rPr>
              <a:t>500</a:t>
            </a:r>
          </a:p>
          <a:p>
            <a:r>
              <a:rPr sz="1000" b="0">
                <a:solidFill>
                  <a:srgbClr val="283442"/>
                </a:solidFill>
                <a:latin typeface="PingFang SC"/>
              </a:rPr>
              <a:t>每个参数集均重复测量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8120" y="3840480"/>
            <a:ext cx="73152" cy="1325880"/>
          </a:xfrm>
          <a:prstGeom prst="rect">
            <a:avLst/>
          </a:prstGeom>
          <a:solidFill>
            <a:srgbClr val="56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64040" y="3840480"/>
            <a:ext cx="1645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27000"/>
          <a:lstStyle/>
          <a:p>
            <a:pPr algn="ctr"/>
            <a:r>
              <a:rPr sz="1100" b="1">
                <a:solidFill>
                  <a:srgbClr val="626D7A"/>
                </a:solidFill>
                <a:latin typeface="PingFang SC"/>
              </a:rPr>
              <a:t>在线成本</a:t>
            </a:r>
          </a:p>
          <a:p>
            <a:r>
              <a:rPr sz="2000" b="1">
                <a:solidFill>
                  <a:srgbClr val="1B2D47"/>
                </a:solidFill>
                <a:latin typeface="Aptos"/>
              </a:rPr>
              <a:t>Encaps + Decaps</a:t>
            </a:r>
          </a:p>
          <a:p>
            <a:r>
              <a:rPr sz="1000" b="0">
                <a:solidFill>
                  <a:srgbClr val="283442"/>
                </a:solidFill>
                <a:latin typeface="PingFang SC"/>
              </a:rPr>
              <a:t>模拟实际协商阶段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9464040" y="3840480"/>
            <a:ext cx="73152" cy="1325880"/>
          </a:xfrm>
          <a:prstGeom prst="rect">
            <a:avLst/>
          </a:prstGeom>
          <a:solidFill>
            <a:srgbClr val="40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18120" y="53035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27000"/>
          <a:lstStyle/>
          <a:p>
            <a:pPr algn="ctr"/>
            <a:r>
              <a:rPr sz="1100" b="1">
                <a:solidFill>
                  <a:srgbClr val="626D7A"/>
                </a:solidFill>
                <a:latin typeface="PingFang SC"/>
              </a:rPr>
              <a:t>完整成本</a:t>
            </a:r>
          </a:p>
          <a:p>
            <a:r>
              <a:rPr sz="2000" b="1">
                <a:solidFill>
                  <a:srgbClr val="1B2D47"/>
                </a:solidFill>
                <a:latin typeface="Aptos"/>
              </a:rPr>
              <a:t>KeyGen + Online</a:t>
            </a:r>
          </a:p>
          <a:p>
            <a:r>
              <a:rPr sz="1000" b="0">
                <a:solidFill>
                  <a:srgbClr val="283442"/>
                </a:solidFill>
                <a:latin typeface="PingFang SC"/>
              </a:rPr>
              <a:t>纳入密钥生成开销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5303520"/>
            <a:ext cx="73152" cy="1325880"/>
          </a:xfrm>
          <a:prstGeom prst="rect">
            <a:avLst/>
          </a:prstGeom>
          <a:solidFill>
            <a:srgbClr val="BC8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F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27080" y="650138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26D7A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B2D47"/>
                </a:solidFill>
                <a:latin typeface="PingFang SC"/>
              </a:rPr>
              <a:t>研究对象与评价维度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26D7A"/>
                </a:solidFill>
                <a:latin typeface="PingFang SC"/>
              </a:rPr>
              <a:t>同一标准下，不同参数集体现出不同的安全-性能取舍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154680" cy="1005840"/>
          </a:xfrm>
          <a:prstGeom prst="roundRect">
            <a:avLst/>
          </a:prstGeom>
          <a:solidFill>
            <a:srgbClr val="ECF2FA"/>
          </a:solidFill>
          <a:ln>
            <a:solidFill>
              <a:srgbClr val="EC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300" b="1">
                <a:solidFill>
                  <a:srgbClr val="1B2D47"/>
                </a:solidFill>
                <a:latin typeface="PingFang SC"/>
              </a:rPr>
              <a:t>参数集</a:t>
            </a:r>
          </a:p>
          <a:p>
            <a:r>
              <a:rPr sz="1100" b="0">
                <a:solidFill>
                  <a:srgbClr val="283442"/>
                </a:solidFill>
                <a:latin typeface="PingFang SC"/>
              </a:rPr>
              <a:t>ML-KEM-512、ML-KEM-768、ML-KEM-1024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280160"/>
            <a:ext cx="3246120" cy="1005840"/>
          </a:xfrm>
          <a:prstGeom prst="roundRect">
            <a:avLst/>
          </a:prstGeom>
          <a:solidFill>
            <a:srgbClr val="E9F5F1"/>
          </a:solidFill>
          <a:ln>
            <a:solidFill>
              <a:srgbClr val="E9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300" b="1">
                <a:solidFill>
                  <a:srgbClr val="1B2D47"/>
                </a:solidFill>
                <a:latin typeface="PingFang SC"/>
              </a:rPr>
              <a:t>安全等级</a:t>
            </a:r>
          </a:p>
          <a:p>
            <a:r>
              <a:rPr sz="1100" b="0">
                <a:solidFill>
                  <a:srgbClr val="283442"/>
                </a:solidFill>
                <a:latin typeface="PingFang SC"/>
              </a:rPr>
              <a:t>分别对应 Level 1 / 3 / 5 的递增安全强度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80160"/>
            <a:ext cx="3657600" cy="1005840"/>
          </a:xfrm>
          <a:prstGeom prst="roundRect">
            <a:avLst/>
          </a:prstGeom>
          <a:solidFill>
            <a:srgbClr val="F9EFE0"/>
          </a:solidFill>
          <a:ln>
            <a:solidFill>
              <a:srgbClr val="F9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300" b="1">
                <a:solidFill>
                  <a:srgbClr val="1B2D47"/>
                </a:solidFill>
                <a:latin typeface="PingFang SC"/>
              </a:rPr>
              <a:t>比较目标</a:t>
            </a:r>
          </a:p>
          <a:p>
            <a:r>
              <a:rPr sz="1100" b="0">
                <a:solidFill>
                  <a:srgbClr val="283442"/>
                </a:solidFill>
                <a:latin typeface="PingFang SC"/>
              </a:rPr>
              <a:t>不仅看谁更快，还要看安全升级带来的额外代价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83442"/>
                </a:solidFill>
                <a:latin typeface="PingFang SC"/>
              </a:rPr>
              <a:t>时间代价：KeyGen、Encaps、Decaps 的平均时延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83442"/>
                </a:solidFill>
                <a:latin typeface="PingFang SC"/>
              </a:rPr>
              <a:t>空间代价：公钥、私钥、密文长度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83442"/>
                </a:solidFill>
                <a:latin typeface="PingFang SC"/>
              </a:rPr>
              <a:t>流程代价：一次在线协商与完整密钥建立的总成本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83442"/>
                </a:solidFill>
                <a:latin typeface="PingFang SC"/>
              </a:rPr>
              <a:t>系统能力：单位时间可处理多少次密钥建立请求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766560" y="2743200"/>
          <a:ext cx="4754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976"/>
                <a:gridCol w="950976"/>
                <a:gridCol w="950976"/>
                <a:gridCol w="950976"/>
                <a:gridCol w="950976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参数集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安全级别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公钥(B)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私钥(B)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密文(B)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3442"/>
                          </a:solidFill>
                          <a:latin typeface="PingFang SC"/>
                        </a:rPr>
                        <a:t>ML-KEM-512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L1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1632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3442"/>
                          </a:solidFill>
                          <a:latin typeface="PingFang SC"/>
                        </a:rPr>
                        <a:t>ML-KEM-768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L3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1184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2400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1088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3442"/>
                          </a:solidFill>
                          <a:latin typeface="PingFang SC"/>
                        </a:rPr>
                        <a:t>ML-KEM-1024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L5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1568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3168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1568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F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27080" y="650138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26D7A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B2D47"/>
                </a:solidFill>
                <a:latin typeface="PingFang SC"/>
              </a:rPr>
              <a:t>实验环境与方法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26D7A"/>
                </a:solidFill>
                <a:latin typeface="PingFang SC"/>
              </a:rPr>
              <a:t>保证三个参数集在同一软件栈和同一测试流程下比较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83442"/>
                </a:solidFill>
                <a:latin typeface="PingFang SC"/>
              </a:rPr>
              <a:t>实现库：liboqs-python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3442"/>
                </a:solidFill>
                <a:latin typeface="PingFang SC"/>
              </a:rPr>
              <a:t>算法对象：ML-KEM-512 / 768 / 1024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3442"/>
                </a:solidFill>
                <a:latin typeface="PingFang SC"/>
              </a:rPr>
              <a:t>预热轮数：20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3442"/>
                </a:solidFill>
                <a:latin typeface="PingFang SC"/>
              </a:rPr>
              <a:t>正式测量轮数：500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3442"/>
                </a:solidFill>
                <a:latin typeface="PingFang SC"/>
              </a:rPr>
              <a:t>正确性校验：验证封装/解封装后的共享密钥一致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37160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83442"/>
                </a:solidFill>
                <a:latin typeface="PingFang SC"/>
              </a:rPr>
              <a:t>测量操作：KeyGen、Encaps、Decaps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3442"/>
                </a:solidFill>
                <a:latin typeface="PingFang SC"/>
              </a:rPr>
              <a:t>统计输出：平均值与标准差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3442"/>
                </a:solidFill>
                <a:latin typeface="PingFang SC"/>
              </a:rPr>
              <a:t>衍生指标：online total、full total、throughput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83442"/>
                </a:solidFill>
                <a:latin typeface="PingFang SC"/>
              </a:rPr>
              <a:t>归一化基准：ML-KEM-512 = 1.00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074920"/>
            <a:ext cx="10424160" cy="914400"/>
          </a:xfrm>
          <a:prstGeom prst="roundRect">
            <a:avLst/>
          </a:prstGeom>
          <a:solidFill>
            <a:srgbClr val="F6EAE8"/>
          </a:solidFill>
          <a:ln>
            <a:solidFill>
              <a:srgbClr val="F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300" b="1">
                <a:solidFill>
                  <a:srgbClr val="1B2D47"/>
                </a:solidFill>
                <a:latin typeface="PingFang SC"/>
              </a:rPr>
              <a:t>方法优势</a:t>
            </a:r>
          </a:p>
          <a:p>
            <a:r>
              <a:rPr sz="1100" b="0">
                <a:solidFill>
                  <a:srgbClr val="283442"/>
                </a:solidFill>
                <a:latin typeface="PingFang SC"/>
              </a:rPr>
              <a:t>把单步性能、整体握手成本与系统容量三种视角合在一起，结论更接近真实部署场景。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F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650138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26D7A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B2D47"/>
                </a:solidFill>
                <a:latin typeface="PingFang SC"/>
              </a:rPr>
              <a:t>原始结果快照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26D7A"/>
                </a:solidFill>
                <a:latin typeface="PingFang SC"/>
              </a:rPr>
              <a:t>先看绝对时间：参数集越大，三个核心操作都变慢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6766557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651"/>
                <a:gridCol w="966651"/>
                <a:gridCol w="966651"/>
                <a:gridCol w="966651"/>
                <a:gridCol w="966651"/>
                <a:gridCol w="966651"/>
                <a:gridCol w="966651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参数集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级别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KeyGen (ms)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Encaps (ms)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Decaps (ms)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公钥(B)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ingFang SC"/>
                        </a:rPr>
                        <a:t>密文(B)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3442"/>
                          </a:solidFill>
                          <a:latin typeface="PingFang SC"/>
                        </a:rPr>
                        <a:t>ML-KEM-512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0.0087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0.0089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0.0095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3442"/>
                          </a:solidFill>
                          <a:latin typeface="PingFang SC"/>
                        </a:rPr>
                        <a:t>ML-KEM-768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3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0.0143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0.0132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0.0143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1184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1088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83442"/>
                          </a:solidFill>
                          <a:latin typeface="PingFang SC"/>
                        </a:rPr>
                        <a:t>ML-KEM-1024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0.0214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0.0191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0.0206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1568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442"/>
                          </a:solidFill>
                          <a:latin typeface="PingFang SC"/>
                        </a:rPr>
                        <a:t>1568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keygen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325880"/>
            <a:ext cx="3337560" cy="2085975"/>
          </a:xfrm>
          <a:prstGeom prst="rect">
            <a:avLst/>
          </a:prstGeom>
        </p:spPr>
      </p:pic>
      <p:pic>
        <p:nvPicPr>
          <p:cNvPr id="6" name="Picture 5" descr="encaps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3154680"/>
            <a:ext cx="1664208" cy="1040130"/>
          </a:xfrm>
          <a:prstGeom prst="rect">
            <a:avLst/>
          </a:prstGeom>
        </p:spPr>
      </p:pic>
      <p:pic>
        <p:nvPicPr>
          <p:cNvPr id="7" name="Picture 6" descr="decaps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3154680"/>
            <a:ext cx="1664208" cy="104013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6384" y="4069080"/>
            <a:ext cx="6583680" cy="1417320"/>
          </a:xfrm>
          <a:prstGeom prst="roundRect">
            <a:avLst/>
          </a:prstGeom>
          <a:solidFill>
            <a:srgbClr val="F9EFE0"/>
          </a:solidFill>
          <a:ln>
            <a:solidFill>
              <a:srgbClr val="F9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300" b="1">
                <a:solidFill>
                  <a:srgbClr val="1B2D47"/>
                </a:solidFill>
                <a:latin typeface="PingFang SC"/>
              </a:rPr>
              <a:t>原始观察</a:t>
            </a:r>
          </a:p>
          <a:p>
            <a:r>
              <a:rPr sz="1100" b="0">
                <a:solidFill>
                  <a:srgbClr val="283442"/>
                </a:solidFill>
                <a:latin typeface="PingFang SC"/>
              </a:rPr>
              <a:t>从 512 升级到 1024 后，三类操作的平均时延都显著上升；这意味着更高安全等级并不是“免费升级”。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F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27080" y="650138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26D7A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B2D47"/>
                </a:solidFill>
                <a:latin typeface="PingFang SC"/>
              </a:rPr>
              <a:t>归一化代价分析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26D7A"/>
                </a:solidFill>
                <a:latin typeface="PingFang SC"/>
              </a:rPr>
              <a:t>以 ML-KEM-512 为基准，看安全升级到底贵了多少</a:t>
            </a:r>
          </a:p>
        </p:txBody>
      </p:sp>
      <p:pic>
        <p:nvPicPr>
          <p:cNvPr id="4" name="Picture 3" descr="visual_heatmap_tradeof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7315200" cy="324644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83879" y="1554480"/>
            <a:ext cx="2743200" cy="914400"/>
          </a:xfrm>
          <a:prstGeom prst="roundRect">
            <a:avLst/>
          </a:prstGeom>
          <a:solidFill>
            <a:srgbClr val="E9F5F1"/>
          </a:solidFill>
          <a:ln>
            <a:solidFill>
              <a:srgbClr val="E9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300" b="1">
                <a:solidFill>
                  <a:srgbClr val="1B2D47"/>
                </a:solidFill>
                <a:latin typeface="PingFang SC"/>
              </a:rPr>
              <a:t>关键信息 1</a:t>
            </a:r>
          </a:p>
          <a:p>
            <a:r>
              <a:rPr sz="1100" b="0">
                <a:solidFill>
                  <a:srgbClr val="283442"/>
                </a:solidFill>
                <a:latin typeface="PingFang SC"/>
              </a:rPr>
              <a:t>ML-KEM-768 在时间和尺寸上大致是 1.4x 到 1.6x。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2651760"/>
            <a:ext cx="2743200" cy="1143000"/>
          </a:xfrm>
          <a:prstGeom prst="roundRect">
            <a:avLst/>
          </a:prstGeom>
          <a:solidFill>
            <a:srgbClr val="F9EFE0"/>
          </a:solidFill>
          <a:ln>
            <a:solidFill>
              <a:srgbClr val="F9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300" b="1">
                <a:solidFill>
                  <a:srgbClr val="1B2D47"/>
                </a:solidFill>
                <a:latin typeface="PingFang SC"/>
              </a:rPr>
              <a:t>关键信息 2</a:t>
            </a:r>
          </a:p>
          <a:p>
            <a:r>
              <a:rPr sz="1100" b="0">
                <a:solidFill>
                  <a:srgbClr val="283442"/>
                </a:solidFill>
                <a:latin typeface="PingFang SC"/>
              </a:rPr>
              <a:t>ML-KEM-1024 在时间上达到约 2.1x 到 2.5x，密钥与密文尺寸接近 2x。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4069080"/>
            <a:ext cx="2743200" cy="1051560"/>
          </a:xfrm>
          <a:prstGeom prst="roundRect">
            <a:avLst/>
          </a:prstGeom>
          <a:solidFill>
            <a:srgbClr val="F6EAE8"/>
          </a:solidFill>
          <a:ln>
            <a:solidFill>
              <a:srgbClr val="F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300" b="1">
                <a:solidFill>
                  <a:srgbClr val="1B2D47"/>
                </a:solidFill>
                <a:latin typeface="PingFang SC"/>
              </a:rPr>
              <a:t>结论</a:t>
            </a:r>
          </a:p>
          <a:p>
            <a:r>
              <a:rPr sz="1100" b="0">
                <a:solidFill>
                  <a:srgbClr val="283442"/>
                </a:solidFill>
                <a:latin typeface="PingFang SC"/>
              </a:rPr>
              <a:t>从“增量代价”看，768 是合理折中；1024 的高安全带来非常明确的额外成本。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5394960"/>
            <a:ext cx="1234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27000"/>
          <a:lstStyle/>
          <a:p>
            <a:pPr algn="ctr"/>
            <a:r>
              <a:rPr sz="1100" b="1">
                <a:solidFill>
                  <a:srgbClr val="626D7A"/>
                </a:solidFill>
                <a:latin typeface="PingFang SC"/>
              </a:rPr>
              <a:t>KeyGen 放大</a:t>
            </a:r>
          </a:p>
          <a:p>
            <a:r>
              <a:rPr sz="2000" b="1">
                <a:solidFill>
                  <a:srgbClr val="1B2D47"/>
                </a:solidFill>
                <a:latin typeface="Aptos"/>
              </a:rPr>
              <a:t>2.47x</a:t>
            </a:r>
          </a:p>
          <a:p>
            <a:r>
              <a:rPr sz="1000" b="0">
                <a:solidFill>
                  <a:srgbClr val="283442"/>
                </a:solidFill>
                <a:latin typeface="PingFang SC"/>
              </a:rPr>
              <a:t>1024 相对 512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3879" y="5394960"/>
            <a:ext cx="73152" cy="1325880"/>
          </a:xfrm>
          <a:prstGeom prst="rect">
            <a:avLst/>
          </a:prstGeom>
          <a:solidFill>
            <a:srgbClr val="40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55480" y="5394960"/>
            <a:ext cx="1234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27000"/>
          <a:lstStyle/>
          <a:p>
            <a:pPr algn="ctr"/>
            <a:r>
              <a:rPr sz="1100" b="1">
                <a:solidFill>
                  <a:srgbClr val="626D7A"/>
                </a:solidFill>
                <a:latin typeface="PingFang SC"/>
              </a:rPr>
              <a:t>Online 放大</a:t>
            </a:r>
          </a:p>
          <a:p>
            <a:r>
              <a:rPr sz="2000" b="1">
                <a:solidFill>
                  <a:srgbClr val="1B2D47"/>
                </a:solidFill>
                <a:latin typeface="Aptos"/>
              </a:rPr>
              <a:t>2.16x</a:t>
            </a:r>
          </a:p>
          <a:p>
            <a:r>
              <a:rPr sz="1000" b="0">
                <a:solidFill>
                  <a:srgbClr val="283442"/>
                </a:solidFill>
                <a:latin typeface="PingFang SC"/>
              </a:rPr>
              <a:t>1024 相对 512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55480" y="5394960"/>
            <a:ext cx="73152" cy="1325880"/>
          </a:xfrm>
          <a:prstGeom prst="rect">
            <a:avLst/>
          </a:prstGeom>
          <a:solidFill>
            <a:srgbClr val="BC8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F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27080" y="650138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26D7A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B2D47"/>
                </a:solidFill>
                <a:latin typeface="PingFang SC"/>
              </a:rPr>
              <a:t>完整密钥建立成本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26D7A"/>
                </a:solidFill>
                <a:latin typeface="PingFang SC"/>
              </a:rPr>
              <a:t>相比单步时间，更需要关注一次完整协商到底要付出多少</a:t>
            </a:r>
          </a:p>
        </p:txBody>
      </p:sp>
      <p:pic>
        <p:nvPicPr>
          <p:cNvPr id="4" name="Picture 3" descr="visual_latency_dumbb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34440"/>
            <a:ext cx="7543800" cy="411707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66760" y="1600200"/>
            <a:ext cx="1325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27000"/>
          <a:lstStyle/>
          <a:p>
            <a:pPr algn="ctr"/>
            <a:r>
              <a:rPr sz="1100" b="1">
                <a:solidFill>
                  <a:srgbClr val="626D7A"/>
                </a:solidFill>
                <a:latin typeface="PingFang SC"/>
              </a:rPr>
              <a:t>Online Total</a:t>
            </a:r>
          </a:p>
          <a:p>
            <a:r>
              <a:rPr sz="2000" b="1">
                <a:solidFill>
                  <a:srgbClr val="1B2D47"/>
                </a:solidFill>
                <a:latin typeface="Aptos"/>
              </a:rPr>
              <a:t>0.0184 ms</a:t>
            </a:r>
          </a:p>
          <a:p>
            <a:r>
              <a:rPr sz="1000" b="0">
                <a:solidFill>
                  <a:srgbClr val="283442"/>
                </a:solidFill>
                <a:latin typeface="PingFang SC"/>
              </a:rPr>
              <a:t>ML-KEM-512</a:t>
            </a:r>
          </a:p>
        </p:txBody>
      </p:sp>
      <p:sp>
        <p:nvSpPr>
          <p:cNvPr id="6" name="Rectangle 5"/>
          <p:cNvSpPr/>
          <p:nvPr/>
        </p:nvSpPr>
        <p:spPr>
          <a:xfrm>
            <a:off x="8366760" y="1600200"/>
            <a:ext cx="73152" cy="1325880"/>
          </a:xfrm>
          <a:prstGeom prst="rect">
            <a:avLst/>
          </a:prstGeom>
          <a:solidFill>
            <a:srgbClr val="56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29800" y="1600200"/>
            <a:ext cx="1325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27000"/>
          <a:lstStyle/>
          <a:p>
            <a:pPr algn="ctr"/>
            <a:r>
              <a:rPr sz="1100" b="1">
                <a:solidFill>
                  <a:srgbClr val="626D7A"/>
                </a:solidFill>
                <a:latin typeface="PingFang SC"/>
              </a:rPr>
              <a:t>Online Total</a:t>
            </a:r>
          </a:p>
          <a:p>
            <a:r>
              <a:rPr sz="2000" b="1">
                <a:solidFill>
                  <a:srgbClr val="1B2D47"/>
                </a:solidFill>
                <a:latin typeface="Aptos"/>
              </a:rPr>
              <a:t>0.0275 ms</a:t>
            </a:r>
          </a:p>
          <a:p>
            <a:r>
              <a:rPr sz="1000" b="0">
                <a:solidFill>
                  <a:srgbClr val="283442"/>
                </a:solidFill>
                <a:latin typeface="PingFang SC"/>
              </a:rPr>
              <a:t>ML-KEM-768</a:t>
            </a:r>
          </a:p>
        </p:txBody>
      </p:sp>
      <p:sp>
        <p:nvSpPr>
          <p:cNvPr id="8" name="Rectangle 7"/>
          <p:cNvSpPr/>
          <p:nvPr/>
        </p:nvSpPr>
        <p:spPr>
          <a:xfrm>
            <a:off x="9829800" y="1600200"/>
            <a:ext cx="73152" cy="1325880"/>
          </a:xfrm>
          <a:prstGeom prst="rect">
            <a:avLst/>
          </a:prstGeom>
          <a:solidFill>
            <a:srgbClr val="BC8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66760" y="3154680"/>
            <a:ext cx="1325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27000"/>
          <a:lstStyle/>
          <a:p>
            <a:pPr algn="ctr"/>
            <a:r>
              <a:rPr sz="1100" b="1">
                <a:solidFill>
                  <a:srgbClr val="626D7A"/>
                </a:solidFill>
                <a:latin typeface="PingFang SC"/>
              </a:rPr>
              <a:t>Online Total</a:t>
            </a:r>
          </a:p>
          <a:p>
            <a:r>
              <a:rPr sz="2000" b="1">
                <a:solidFill>
                  <a:srgbClr val="1B2D47"/>
                </a:solidFill>
                <a:latin typeface="Aptos"/>
              </a:rPr>
              <a:t>0.0397 ms</a:t>
            </a:r>
          </a:p>
          <a:p>
            <a:r>
              <a:rPr sz="1000" b="0">
                <a:solidFill>
                  <a:srgbClr val="283442"/>
                </a:solidFill>
                <a:latin typeface="PingFang SC"/>
              </a:rPr>
              <a:t>ML-KEM-1024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3154680"/>
            <a:ext cx="73152" cy="1325880"/>
          </a:xfrm>
          <a:prstGeom prst="rect">
            <a:avLst/>
          </a:prstGeom>
          <a:solidFill>
            <a:srgbClr val="AA6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29800" y="3154680"/>
            <a:ext cx="1325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27000"/>
          <a:lstStyle/>
          <a:p>
            <a:pPr algn="ctr"/>
            <a:r>
              <a:rPr sz="1100" b="1">
                <a:solidFill>
                  <a:srgbClr val="626D7A"/>
                </a:solidFill>
                <a:latin typeface="PingFang SC"/>
              </a:rPr>
              <a:t>Full Total</a:t>
            </a:r>
          </a:p>
          <a:p>
            <a:r>
              <a:rPr sz="2000" b="1">
                <a:solidFill>
                  <a:srgbClr val="1B2D47"/>
                </a:solidFill>
                <a:latin typeface="Aptos"/>
              </a:rPr>
              <a:t>0.0610 ms</a:t>
            </a:r>
          </a:p>
          <a:p>
            <a:r>
              <a:rPr sz="1000" b="0">
                <a:solidFill>
                  <a:srgbClr val="283442"/>
                </a:solidFill>
                <a:latin typeface="PingFang SC"/>
              </a:rPr>
              <a:t>1024 最完整成本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29800" y="3154680"/>
            <a:ext cx="73152" cy="1325880"/>
          </a:xfrm>
          <a:prstGeom prst="rect">
            <a:avLst/>
          </a:prstGeom>
          <a:solidFill>
            <a:srgbClr val="40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66760" y="4800600"/>
            <a:ext cx="2834640" cy="1051560"/>
          </a:xfrm>
          <a:prstGeom prst="roundRect">
            <a:avLst/>
          </a:prstGeom>
          <a:solidFill>
            <a:srgbClr val="ECF2FA"/>
          </a:solidFill>
          <a:ln>
            <a:solidFill>
              <a:srgbClr val="EC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300" b="1">
                <a:solidFill>
                  <a:srgbClr val="1B2D47"/>
                </a:solidFill>
                <a:latin typeface="PingFang SC"/>
              </a:rPr>
              <a:t>部署理解</a:t>
            </a:r>
          </a:p>
          <a:p>
            <a:r>
              <a:rPr sz="1100" b="0">
                <a:solidFill>
                  <a:srgbClr val="283442"/>
                </a:solidFill>
                <a:latin typeface="PingFang SC"/>
              </a:rPr>
              <a:t>如果系统需要频繁建立会话密钥，那么 full total 比单步均值更有解释力；768 的整体成本约为 512 的 1.55x，1024 约为 2.26x。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F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27080" y="650138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26D7A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B2D47"/>
                </a:solidFill>
                <a:latin typeface="PingFang SC"/>
              </a:rPr>
              <a:t>吞吐能力分析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26D7A"/>
                </a:solidFill>
                <a:latin typeface="PingFang SC"/>
              </a:rPr>
              <a:t>更高安全等级不仅让单次操作更慢，也会降低系统每秒可处理请求数</a:t>
            </a:r>
          </a:p>
        </p:txBody>
      </p:sp>
      <p:pic>
        <p:nvPicPr>
          <p:cNvPr id="4" name="Picture 3" descr="paper_table_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7315200" cy="269126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21040" y="1691640"/>
            <a:ext cx="2834640" cy="1097280"/>
          </a:xfrm>
          <a:prstGeom prst="roundRect">
            <a:avLst/>
          </a:prstGeom>
          <a:solidFill>
            <a:srgbClr val="F9EFE0"/>
          </a:solidFill>
          <a:ln>
            <a:solidFill>
              <a:srgbClr val="F9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300" b="1">
                <a:solidFill>
                  <a:srgbClr val="1B2D47"/>
                </a:solidFill>
                <a:latin typeface="PingFang SC"/>
              </a:rPr>
              <a:t>系统容量</a:t>
            </a:r>
          </a:p>
          <a:p>
            <a:r>
              <a:rPr sz="1100" b="0">
                <a:solidFill>
                  <a:srgbClr val="283442"/>
                </a:solidFill>
                <a:latin typeface="PingFang SC"/>
              </a:rPr>
              <a:t>完整密钥建立吞吐从 36,976 ops/s 下降到 16,380 ops/s，1024 仅约为 512 的 44%。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3063240"/>
            <a:ext cx="2834640" cy="1051560"/>
          </a:xfrm>
          <a:prstGeom prst="roundRect">
            <a:avLst/>
          </a:prstGeom>
          <a:solidFill>
            <a:srgbClr val="E9F5F1"/>
          </a:solidFill>
          <a:ln>
            <a:solidFill>
              <a:srgbClr val="E9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300" b="1">
                <a:solidFill>
                  <a:srgbClr val="1B2D47"/>
                </a:solidFill>
                <a:latin typeface="PingFang SC"/>
              </a:rPr>
              <a:t>实际意义</a:t>
            </a:r>
          </a:p>
          <a:p>
            <a:r>
              <a:rPr sz="1100" b="0">
                <a:solidFill>
                  <a:srgbClr val="283442"/>
                </a:solidFill>
                <a:latin typeface="PingFang SC"/>
              </a:rPr>
              <a:t>在高并发服务器场景下，这种吞吐下降会直接反映为更高 CPU 压力与更低请求处理能力。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4572000"/>
            <a:ext cx="1325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27000"/>
          <a:lstStyle/>
          <a:p>
            <a:pPr algn="ctr"/>
            <a:r>
              <a:rPr sz="1100" b="1">
                <a:solidFill>
                  <a:srgbClr val="626D7A"/>
                </a:solidFill>
                <a:latin typeface="PingFang SC"/>
              </a:rPr>
              <a:t>Full Throughput</a:t>
            </a:r>
          </a:p>
          <a:p>
            <a:r>
              <a:rPr sz="2000" b="1">
                <a:solidFill>
                  <a:srgbClr val="1B2D47"/>
                </a:solidFill>
                <a:latin typeface="Aptos"/>
              </a:rPr>
              <a:t>36976 ops/s</a:t>
            </a:r>
          </a:p>
          <a:p>
            <a:r>
              <a:rPr sz="1000" b="0">
                <a:solidFill>
                  <a:srgbClr val="283442"/>
                </a:solidFill>
                <a:latin typeface="PingFang SC"/>
              </a:rPr>
              <a:t>ML-KEM-512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4572000"/>
            <a:ext cx="73152" cy="1325880"/>
          </a:xfrm>
          <a:prstGeom prst="rect">
            <a:avLst/>
          </a:prstGeom>
          <a:solidFill>
            <a:srgbClr val="56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84080" y="4572000"/>
            <a:ext cx="1325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27000"/>
          <a:lstStyle/>
          <a:p>
            <a:pPr algn="ctr"/>
            <a:r>
              <a:rPr sz="1100" b="1">
                <a:solidFill>
                  <a:srgbClr val="626D7A"/>
                </a:solidFill>
                <a:latin typeface="PingFang SC"/>
              </a:rPr>
              <a:t>Full Throughput</a:t>
            </a:r>
          </a:p>
          <a:p>
            <a:r>
              <a:rPr sz="2000" b="1">
                <a:solidFill>
                  <a:srgbClr val="1B2D47"/>
                </a:solidFill>
                <a:latin typeface="Aptos"/>
              </a:rPr>
              <a:t>23903 ops/s</a:t>
            </a:r>
          </a:p>
          <a:p>
            <a:r>
              <a:rPr sz="1000" b="0">
                <a:solidFill>
                  <a:srgbClr val="283442"/>
                </a:solidFill>
                <a:latin typeface="PingFang SC"/>
              </a:rPr>
              <a:t>ML-KEM-768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84080" y="4572000"/>
            <a:ext cx="73152" cy="1325880"/>
          </a:xfrm>
          <a:prstGeom prst="rect">
            <a:avLst/>
          </a:prstGeom>
          <a:solidFill>
            <a:srgbClr val="BC8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52560" y="5623560"/>
            <a:ext cx="1325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27000"/>
          <a:lstStyle/>
          <a:p>
            <a:pPr algn="ctr"/>
            <a:r>
              <a:rPr sz="1100" b="1">
                <a:solidFill>
                  <a:srgbClr val="626D7A"/>
                </a:solidFill>
                <a:latin typeface="PingFang SC"/>
              </a:rPr>
              <a:t>Full Throughput</a:t>
            </a:r>
          </a:p>
          <a:p>
            <a:r>
              <a:rPr sz="2000" b="1">
                <a:solidFill>
                  <a:srgbClr val="1B2D47"/>
                </a:solidFill>
                <a:latin typeface="Aptos"/>
              </a:rPr>
              <a:t>16380 ops/s</a:t>
            </a:r>
          </a:p>
          <a:p>
            <a:r>
              <a:rPr sz="1000" b="0">
                <a:solidFill>
                  <a:srgbClr val="283442"/>
                </a:solidFill>
                <a:latin typeface="PingFang SC"/>
              </a:rPr>
              <a:t>ML-KEM-1024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5623560"/>
            <a:ext cx="73152" cy="1325880"/>
          </a:xfrm>
          <a:prstGeom prst="rect">
            <a:avLst/>
          </a:prstGeom>
          <a:solidFill>
            <a:srgbClr val="AA6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F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27080" y="650138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26D7A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B2D47"/>
                </a:solidFill>
                <a:latin typeface="PingFang SC"/>
              </a:rPr>
              <a:t>三维权衡：速度、尺寸与安全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26D7A"/>
                </a:solidFill>
                <a:latin typeface="PingFang SC"/>
              </a:rPr>
              <a:t>把结论放回真实决策：不是单看快慢，而是看“值不值得”</a:t>
            </a:r>
          </a:p>
        </p:txBody>
      </p:sp>
      <p:pic>
        <p:nvPicPr>
          <p:cNvPr id="4" name="Picture 3" descr="visual_pareto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680960" cy="459875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12480" y="1417320"/>
            <a:ext cx="2743200" cy="914400"/>
          </a:xfrm>
          <a:prstGeom prst="roundRect">
            <a:avLst/>
          </a:prstGeom>
          <a:solidFill>
            <a:srgbClr val="E9F5F1"/>
          </a:solidFill>
          <a:ln>
            <a:solidFill>
              <a:srgbClr val="E9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300" b="1">
                <a:solidFill>
                  <a:srgbClr val="1B2D47"/>
                </a:solidFill>
                <a:latin typeface="PingFang SC"/>
              </a:rPr>
              <a:t>ML-KEM-512</a:t>
            </a:r>
          </a:p>
          <a:p>
            <a:r>
              <a:rPr sz="1100" b="0">
                <a:solidFill>
                  <a:srgbClr val="283442"/>
                </a:solidFill>
                <a:latin typeface="PingFang SC"/>
              </a:rPr>
              <a:t>速度最快、尺寸最小，适合性能最敏感的环境。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560320"/>
            <a:ext cx="2743200" cy="914400"/>
          </a:xfrm>
          <a:prstGeom prst="roundRect">
            <a:avLst/>
          </a:prstGeom>
          <a:solidFill>
            <a:srgbClr val="F9EFE0"/>
          </a:solidFill>
          <a:ln>
            <a:solidFill>
              <a:srgbClr val="F9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300" b="1">
                <a:solidFill>
                  <a:srgbClr val="1B2D47"/>
                </a:solidFill>
                <a:latin typeface="PingFang SC"/>
              </a:rPr>
              <a:t>ML-KEM-768</a:t>
            </a:r>
          </a:p>
          <a:p>
            <a:r>
              <a:rPr sz="1100" b="0">
                <a:solidFill>
                  <a:srgbClr val="283442"/>
                </a:solidFill>
                <a:latin typeface="PingFang SC"/>
              </a:rPr>
              <a:t>整体最均衡，是安全与代价之间最像“默认选择”的参数集。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3703320"/>
            <a:ext cx="2743200" cy="1005840"/>
          </a:xfrm>
          <a:prstGeom prst="roundRect">
            <a:avLst/>
          </a:prstGeom>
          <a:solidFill>
            <a:srgbClr val="F6EAE8"/>
          </a:solidFill>
          <a:ln>
            <a:solidFill>
              <a:srgbClr val="F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300" b="1">
                <a:solidFill>
                  <a:srgbClr val="1B2D47"/>
                </a:solidFill>
                <a:latin typeface="PingFang SC"/>
              </a:rPr>
              <a:t>ML-KEM-1024</a:t>
            </a:r>
          </a:p>
          <a:p>
            <a:r>
              <a:rPr sz="1100" b="0">
                <a:solidFill>
                  <a:srgbClr val="283442"/>
                </a:solidFill>
                <a:latin typeface="PingFang SC"/>
              </a:rPr>
              <a:t>安全最强，但时延、尺寸和吞吐代价都最重，适合高安全优先级场景。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F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7080" y="650138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26D7A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B2D47"/>
                </a:solidFill>
                <a:latin typeface="PingFang SC"/>
              </a:rPr>
              <a:t>结论与选型建议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26D7A"/>
                </a:solidFill>
                <a:latin typeface="PingFang SC"/>
              </a:rPr>
              <a:t>把实验结果转成可以直接表达的汇报结论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10515600" cy="822960"/>
          </a:xfrm>
          <a:prstGeom prst="roundRect">
            <a:avLst/>
          </a:prstGeom>
          <a:solidFill>
            <a:srgbClr val="ECF2FA"/>
          </a:solidFill>
          <a:ln>
            <a:solidFill>
              <a:srgbClr val="EC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300" b="1">
                <a:solidFill>
                  <a:srgbClr val="1B2D47"/>
                </a:solidFill>
                <a:latin typeface="PingFang SC"/>
              </a:rPr>
              <a:t>结论 1</a:t>
            </a:r>
          </a:p>
          <a:p>
            <a:r>
              <a:rPr sz="1100" b="0">
                <a:solidFill>
                  <a:srgbClr val="283442"/>
                </a:solidFill>
                <a:latin typeface="PingFang SC"/>
              </a:rPr>
              <a:t>ML-KEM 参数集越高，计算时间、数据规模和系统吞吐损失越明显。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10515600" cy="822960"/>
          </a:xfrm>
          <a:prstGeom prst="roundRect">
            <a:avLst/>
          </a:prstGeom>
          <a:solidFill>
            <a:srgbClr val="E9F5F1"/>
          </a:solidFill>
          <a:ln>
            <a:solidFill>
              <a:srgbClr val="E9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300" b="1">
                <a:solidFill>
                  <a:srgbClr val="1B2D47"/>
                </a:solidFill>
                <a:latin typeface="PingFang SC"/>
              </a:rPr>
              <a:t>结论 2</a:t>
            </a:r>
          </a:p>
          <a:p>
            <a:r>
              <a:rPr sz="1100" b="0">
                <a:solidFill>
                  <a:srgbClr val="283442"/>
                </a:solidFill>
                <a:latin typeface="PingFang SC"/>
              </a:rPr>
              <a:t>ML-KEM-768 在安全增强与性能成本之间表现出最清晰的折中属性。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337560"/>
            <a:ext cx="10515600" cy="822960"/>
          </a:xfrm>
          <a:prstGeom prst="roundRect">
            <a:avLst/>
          </a:prstGeom>
          <a:solidFill>
            <a:srgbClr val="F6EAE8"/>
          </a:solidFill>
          <a:ln>
            <a:solidFill>
              <a:srgbClr val="F6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/>
            <a:r>
              <a:rPr sz="1300" b="1">
                <a:solidFill>
                  <a:srgbClr val="1B2D47"/>
                </a:solidFill>
                <a:latin typeface="PingFang SC"/>
              </a:rPr>
              <a:t>结论 3</a:t>
            </a:r>
          </a:p>
          <a:p>
            <a:r>
              <a:rPr sz="1100" b="0">
                <a:solidFill>
                  <a:srgbClr val="283442"/>
                </a:solidFill>
                <a:latin typeface="PingFang SC"/>
              </a:rPr>
              <a:t>ML-KEM-1024 更适合安全优先的关键场景，而不是默认全局替换。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617720"/>
            <a:ext cx="2377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27000"/>
          <a:lstStyle/>
          <a:p>
            <a:pPr algn="ctr"/>
            <a:r>
              <a:rPr sz="1100" b="1">
                <a:solidFill>
                  <a:srgbClr val="626D7A"/>
                </a:solidFill>
                <a:latin typeface="PingFang SC"/>
              </a:rPr>
              <a:t>性能优先</a:t>
            </a:r>
          </a:p>
          <a:p>
            <a:r>
              <a:rPr sz="2000" b="1">
                <a:solidFill>
                  <a:srgbClr val="1B2D47"/>
                </a:solidFill>
                <a:latin typeface="Aptos"/>
              </a:rPr>
              <a:t>ML-KEM-512</a:t>
            </a:r>
          </a:p>
          <a:p>
            <a:r>
              <a:rPr sz="1000" b="0">
                <a:solidFill>
                  <a:srgbClr val="283442"/>
                </a:solidFill>
                <a:latin typeface="PingFang SC"/>
              </a:rPr>
              <a:t>低时延 / 高吞吐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617720"/>
            <a:ext cx="73152" cy="1325880"/>
          </a:xfrm>
          <a:prstGeom prst="rect">
            <a:avLst/>
          </a:prstGeom>
          <a:solidFill>
            <a:srgbClr val="568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4617720"/>
            <a:ext cx="2377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27000"/>
          <a:lstStyle/>
          <a:p>
            <a:pPr algn="ctr"/>
            <a:r>
              <a:rPr sz="1100" b="1">
                <a:solidFill>
                  <a:srgbClr val="626D7A"/>
                </a:solidFill>
                <a:latin typeface="PingFang SC"/>
              </a:rPr>
              <a:t>均衡默认</a:t>
            </a:r>
          </a:p>
          <a:p>
            <a:r>
              <a:rPr sz="2000" b="1">
                <a:solidFill>
                  <a:srgbClr val="1B2D47"/>
                </a:solidFill>
                <a:latin typeface="Aptos"/>
              </a:rPr>
              <a:t>ML-KEM-768</a:t>
            </a:r>
          </a:p>
          <a:p>
            <a:r>
              <a:rPr sz="1000" b="0">
                <a:solidFill>
                  <a:srgbClr val="283442"/>
                </a:solidFill>
                <a:latin typeface="PingFang SC"/>
              </a:rPr>
              <a:t>综合表现最佳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617720"/>
            <a:ext cx="73152" cy="1325880"/>
          </a:xfrm>
          <a:prstGeom prst="rect">
            <a:avLst/>
          </a:prstGeom>
          <a:solidFill>
            <a:srgbClr val="BC8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4617720"/>
            <a:ext cx="2377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27000"/>
          <a:lstStyle/>
          <a:p>
            <a:pPr algn="ctr"/>
            <a:r>
              <a:rPr sz="1100" b="1">
                <a:solidFill>
                  <a:srgbClr val="626D7A"/>
                </a:solidFill>
                <a:latin typeface="PingFang SC"/>
              </a:rPr>
              <a:t>安全优先</a:t>
            </a:r>
          </a:p>
          <a:p>
            <a:r>
              <a:rPr sz="2000" b="1">
                <a:solidFill>
                  <a:srgbClr val="1B2D47"/>
                </a:solidFill>
                <a:latin typeface="Aptos"/>
              </a:rPr>
              <a:t>ML-KEM-1024</a:t>
            </a:r>
          </a:p>
          <a:p>
            <a:r>
              <a:rPr sz="1000" b="0">
                <a:solidFill>
                  <a:srgbClr val="283442"/>
                </a:solidFill>
                <a:latin typeface="PingFang SC"/>
              </a:rPr>
              <a:t>更高保护等级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4617720"/>
            <a:ext cx="73152" cy="1325880"/>
          </a:xfrm>
          <a:prstGeom prst="rect">
            <a:avLst/>
          </a:prstGeom>
          <a:solidFill>
            <a:srgbClr val="AA6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F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27080" y="650138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26D7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